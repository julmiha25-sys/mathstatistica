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608BFB-EB79-4430-B6EB-69FB53999C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AB-test </a:t>
            </a:r>
            <a:r>
              <a:rPr lang="en-US" dirty="0" err="1"/>
              <a:t>Marketpele</a:t>
            </a:r>
            <a:r>
              <a:rPr lang="en-US" dirty="0"/>
              <a:t> Feed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30B2441-B469-4C16-95F5-1AD1428606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Web 01.03.2019-07.03.2019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710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5F16C-DD70-4442-8FF8-69B04DDBE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304800"/>
            <a:ext cx="8898466" cy="673100"/>
          </a:xfrm>
        </p:spPr>
        <p:txBody>
          <a:bodyPr>
            <a:normAutofit fontScale="90000"/>
          </a:bodyPr>
          <a:lstStyle/>
          <a:p>
            <a:r>
              <a:rPr lang="en-US" dirty="0"/>
              <a:t>AB-test</a:t>
            </a:r>
            <a:br>
              <a:rPr lang="en-US" dirty="0"/>
            </a:br>
            <a:endParaRPr lang="ru-RU" sz="14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1ADE90-BFA4-4282-83CC-7323D50A6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977900"/>
            <a:ext cx="8596668" cy="55753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Сравниваем 2 сегмента пользователей: 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видят обычную версию сайта (лента с органическим элементом наверху списка, 4-е платные элемента внизу списка);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видят ленту с 4-я платными элементами наверху списка, за ними следует один органический элемент.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ru-RU" sz="28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Описание проекта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Эксперимент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Вариант А – контрольный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Вариант В – тестовый</a:t>
            </a:r>
          </a:p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Цель эксперимента:</a:t>
            </a:r>
          </a:p>
          <a:p>
            <a:r>
              <a:rPr lang="ru-RU" sz="1400" dirty="0">
                <a:solidFill>
                  <a:schemeClr val="tx1"/>
                </a:solidFill>
              </a:rPr>
              <a:t>Определить, какое расположение платных и органических элементов в ленте приносит больше выручки и не ухудшает пользовательский опыт.</a:t>
            </a:r>
          </a:p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Данные для анализа: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Поведение пользователей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Метрики RPM, </a:t>
            </a:r>
            <a:r>
              <a:rPr lang="en-US" sz="1400" dirty="0">
                <a:solidFill>
                  <a:schemeClr val="tx1"/>
                </a:solidFill>
              </a:rPr>
              <a:t>RPS</a:t>
            </a:r>
            <a:r>
              <a:rPr lang="ru-RU" sz="1400" dirty="0">
                <a:solidFill>
                  <a:schemeClr val="tx1"/>
                </a:solidFill>
              </a:rPr>
              <a:t>, </a:t>
            </a:r>
            <a:r>
              <a:rPr lang="ru-RU" sz="1400" dirty="0" err="1">
                <a:solidFill>
                  <a:schemeClr val="tx1"/>
                </a:solidFill>
              </a:rPr>
              <a:t>Paid</a:t>
            </a:r>
            <a:r>
              <a:rPr lang="ru-RU" sz="1400" dirty="0">
                <a:solidFill>
                  <a:schemeClr val="tx1"/>
                </a:solidFill>
              </a:rPr>
              <a:t> CTR, </a:t>
            </a:r>
            <a:r>
              <a:rPr lang="en-US" sz="1400" dirty="0">
                <a:solidFill>
                  <a:schemeClr val="tx1"/>
                </a:solidFill>
              </a:rPr>
              <a:t>Organic CTR</a:t>
            </a:r>
            <a:endParaRPr lang="ru-RU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Даты эксперимента: </a:t>
            </a:r>
          </a:p>
          <a:p>
            <a:r>
              <a:rPr lang="en-US" sz="1400" dirty="0"/>
              <a:t>c </a:t>
            </a:r>
            <a:r>
              <a:rPr lang="ru-RU" sz="1400" dirty="0"/>
              <a:t>01.03.2019 по 07.03.2019</a:t>
            </a:r>
          </a:p>
          <a:p>
            <a:pPr marL="0" indent="0">
              <a:buNone/>
            </a:pPr>
            <a:endParaRPr lang="ru-RU" sz="1400" dirty="0"/>
          </a:p>
          <a:p>
            <a:pPr marL="0" indent="0">
              <a:buNone/>
            </a:pP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117731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765F1F-734E-4482-954A-9529C1BE7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034" y="252739"/>
            <a:ext cx="9235446" cy="64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Отличие ключевых метрик</a:t>
            </a: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1400" dirty="0"/>
          </a:p>
          <a:p>
            <a:pPr marL="0" indent="0">
              <a:spcBef>
                <a:spcPts val="0"/>
              </a:spcBef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>
                <a:solidFill>
                  <a:schemeClr val="tx1"/>
                </a:solidFill>
              </a:rPr>
              <a:t>Ключевые метрики RPM, RPS, </a:t>
            </a:r>
            <a:r>
              <a:rPr lang="ru-RU" sz="1400" dirty="0" err="1">
                <a:solidFill>
                  <a:schemeClr val="tx1"/>
                </a:solidFill>
              </a:rPr>
              <a:t>Paid</a:t>
            </a:r>
            <a:r>
              <a:rPr lang="ru-RU" sz="1400" dirty="0">
                <a:solidFill>
                  <a:schemeClr val="tx1"/>
                </a:solidFill>
              </a:rPr>
              <a:t> CTR  в группах статически значимо не изменились.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>
                <a:solidFill>
                  <a:schemeClr val="tx1"/>
                </a:solidFill>
              </a:rPr>
              <a:t>Метрика </a:t>
            </a:r>
            <a:r>
              <a:rPr lang="ru-RU" sz="1400" dirty="0" err="1">
                <a:solidFill>
                  <a:schemeClr val="tx1"/>
                </a:solidFill>
              </a:rPr>
              <a:t>Organic</a:t>
            </a:r>
            <a:r>
              <a:rPr lang="ru-RU" sz="1400" dirty="0">
                <a:solidFill>
                  <a:schemeClr val="tx1"/>
                </a:solidFill>
              </a:rPr>
              <a:t> CTR в группе B </a:t>
            </a:r>
            <a:r>
              <a:rPr lang="ru-RU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значительно снизилась.</a:t>
            </a:r>
            <a:r>
              <a:rPr lang="ru-RU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 </a:t>
            </a:r>
            <a:endParaRPr lang="ru-RU" sz="1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3170F7D-56E3-485C-801E-827028AF1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799" y="680958"/>
            <a:ext cx="7362825" cy="526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2840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765F1F-734E-4482-954A-9529C1BE7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034" y="736600"/>
            <a:ext cx="9235446" cy="59817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Поведение пользователей</a:t>
            </a:r>
          </a:p>
          <a:p>
            <a:pPr lvl="1" algn="just"/>
            <a:r>
              <a:rPr lang="ru-RU" dirty="0">
                <a:solidFill>
                  <a:schemeClr val="tx1"/>
                </a:solidFill>
              </a:rPr>
              <a:t>Среднее значение </a:t>
            </a:r>
            <a:r>
              <a:rPr lang="ru-RU" dirty="0" err="1">
                <a:solidFill>
                  <a:schemeClr val="tx1"/>
                </a:solidFill>
              </a:rPr>
              <a:t>Organic</a:t>
            </a:r>
            <a:r>
              <a:rPr lang="ru-RU" dirty="0">
                <a:solidFill>
                  <a:schemeClr val="tx1"/>
                </a:solidFill>
              </a:rPr>
              <a:t> CTR в группе B значительно снизилось на </a:t>
            </a:r>
            <a:r>
              <a:rPr lang="ru-RU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52.42 % </a:t>
            </a:r>
          </a:p>
          <a:p>
            <a:pPr lvl="1" algn="just"/>
            <a:r>
              <a:rPr lang="ru-RU" dirty="0">
                <a:solidFill>
                  <a:schemeClr val="tx1"/>
                </a:solidFill>
              </a:rPr>
              <a:t>Экспериментальное изменение (группа B) не улучшило ключевые бизнес-метрики RPM, RPS, </a:t>
            </a:r>
            <a:r>
              <a:rPr lang="ru-RU" dirty="0" err="1">
                <a:solidFill>
                  <a:schemeClr val="tx1"/>
                </a:solidFill>
              </a:rPr>
              <a:t>Paid</a:t>
            </a:r>
            <a:r>
              <a:rPr lang="ru-RU" dirty="0">
                <a:solidFill>
                  <a:schemeClr val="tx1"/>
                </a:solidFill>
              </a:rPr>
              <a:t> CTR.</a:t>
            </a:r>
            <a:endParaRPr lang="ru-RU" sz="1400" dirty="0">
              <a:solidFill>
                <a:schemeClr val="tx1"/>
              </a:solidFill>
            </a:endParaRPr>
          </a:p>
          <a:p>
            <a:pPr marL="457200" lvl="1" indent="0" algn="just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 algn="just">
              <a:buNone/>
            </a:pPr>
            <a:r>
              <a:rPr lang="ru-RU" sz="2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Выводы</a:t>
            </a:r>
          </a:p>
          <a:p>
            <a:pPr lvl="1" algn="just"/>
            <a:r>
              <a:rPr lang="ru-RU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Не внедрять </a:t>
            </a:r>
            <a:r>
              <a:rPr lang="ru-RU" dirty="0">
                <a:solidFill>
                  <a:schemeClr val="tx1"/>
                </a:solidFill>
              </a:rPr>
              <a:t>изменение, так как оно ухудшает поведенческие метрики без выгоды для выручки - на маленькой выборке можно обнаружить </a:t>
            </a:r>
            <a:r>
              <a:rPr lang="ru-RU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только очень сильные эффекты </a:t>
            </a:r>
            <a:r>
              <a:rPr lang="ru-RU" dirty="0">
                <a:solidFill>
                  <a:schemeClr val="tx1"/>
                </a:solidFill>
              </a:rPr>
              <a:t>(126 вместо рассчитанного количества наблюдений в 14730).</a:t>
            </a:r>
          </a:p>
          <a:p>
            <a:pPr lvl="1" algn="just"/>
            <a:r>
              <a:rPr lang="ru-RU" dirty="0">
                <a:solidFill>
                  <a:schemeClr val="tx1"/>
                </a:solidFill>
              </a:rPr>
              <a:t>Внедрить мониторинг LTV (падение </a:t>
            </a:r>
            <a:r>
              <a:rPr lang="ru-RU" dirty="0" err="1">
                <a:solidFill>
                  <a:schemeClr val="tx1"/>
                </a:solidFill>
              </a:rPr>
              <a:t>Organic</a:t>
            </a:r>
            <a:r>
              <a:rPr lang="ru-RU" dirty="0">
                <a:solidFill>
                  <a:schemeClr val="tx1"/>
                </a:solidFill>
              </a:rPr>
              <a:t> CTR может привести к снижению возвратов пользователей), необходимо отследить долгосрочный эффект через 7, 14, 30 дней.</a:t>
            </a:r>
          </a:p>
          <a:p>
            <a:pPr lvl="1" algn="just"/>
            <a:r>
              <a:rPr lang="ru-RU" dirty="0">
                <a:solidFill>
                  <a:schemeClr val="tx1"/>
                </a:solidFill>
              </a:rPr>
              <a:t>Запустить новый A/B-тест с другим чередованием платных и органических элементов, визуальным выделением платных элементов с одновременным увеличением объема выборки.</a:t>
            </a:r>
          </a:p>
          <a:p>
            <a:pPr lvl="1"/>
            <a:endParaRPr lang="ru-RU" dirty="0">
              <a:solidFill>
                <a:schemeClr val="tx1"/>
              </a:solidFill>
            </a:endParaRPr>
          </a:p>
          <a:p>
            <a:pPr lvl="1"/>
            <a:endParaRPr lang="ru-RU" dirty="0">
              <a:solidFill>
                <a:schemeClr val="tx1"/>
              </a:solidFill>
            </a:endParaRPr>
          </a:p>
          <a:p>
            <a:pPr lvl="1"/>
            <a:endParaRPr lang="ru-RU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buNone/>
            </a:pPr>
            <a:endParaRPr lang="ru-RU" sz="1400" dirty="0"/>
          </a:p>
          <a:p>
            <a:pPr marL="0" indent="0">
              <a:spcBef>
                <a:spcPts val="0"/>
              </a:spcBef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ru-RU" sz="21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244730929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101</TotalTime>
  <Words>246</Words>
  <Application>Microsoft Office PowerPoint</Application>
  <PresentationFormat>Широкоэкранный</PresentationFormat>
  <Paragraphs>51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Аспект</vt:lpstr>
      <vt:lpstr>AB-test Marketpele Feed</vt:lpstr>
      <vt:lpstr>AB-test 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AB-test Marketpele Feed</dc:title>
  <dc:creator>Mihalev Ilya</dc:creator>
  <cp:lastModifiedBy>Mihalev Ilya</cp:lastModifiedBy>
  <cp:revision>17</cp:revision>
  <dcterms:created xsi:type="dcterms:W3CDTF">2026-04-17T09:48:35Z</dcterms:created>
  <dcterms:modified xsi:type="dcterms:W3CDTF">2026-04-17T11:29:36Z</dcterms:modified>
</cp:coreProperties>
</file>