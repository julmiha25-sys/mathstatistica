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59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608BFB-EB79-4430-B6EB-69FB53999C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AB-test </a:t>
            </a:r>
            <a:r>
              <a:rPr lang="en-US" dirty="0" err="1"/>
              <a:t>Marketpele</a:t>
            </a:r>
            <a:r>
              <a:rPr lang="en-US" dirty="0"/>
              <a:t> Feed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0B2441-B469-4C16-95F5-1AD1428606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Web 01.03.2019-07.03.2019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71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35F16C-DD70-4442-8FF8-69B04DDBE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304800"/>
            <a:ext cx="8898466" cy="673100"/>
          </a:xfrm>
        </p:spPr>
        <p:txBody>
          <a:bodyPr>
            <a:normAutofit fontScale="90000"/>
          </a:bodyPr>
          <a:lstStyle/>
          <a:p>
            <a:r>
              <a:rPr lang="en-US" dirty="0"/>
              <a:t>AB-test</a:t>
            </a:r>
            <a:br>
              <a:rPr lang="en-US" dirty="0"/>
            </a:br>
            <a:endParaRPr lang="ru-RU" sz="14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1ADE90-BFA4-4282-83CC-7323D50A6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977900"/>
            <a:ext cx="8596668" cy="55753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Сравниваем 2 сегмента пользователей: 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видят обычную версию сайта (лента с органическим элементом наверху списка, 4-е платные элемента внизу списка);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видят ленту с 4-я платными элементами наверху списка, за ними следует один органический элемент.</a:t>
            </a:r>
            <a:br>
              <a:rPr lang="ru-RU" sz="1400" dirty="0">
                <a:solidFill>
                  <a:schemeClr val="tx1"/>
                </a:solidFill>
              </a:rPr>
            </a:b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8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Описание проекта</a:t>
            </a:r>
          </a:p>
          <a:p>
            <a:r>
              <a:rPr lang="ru-RU" sz="1400" dirty="0">
                <a:solidFill>
                  <a:schemeClr val="tx1"/>
                </a:solidFill>
              </a:rPr>
              <a:t>Эксперимент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Вариант А – контрольный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Вариант В – тестовый</a:t>
            </a:r>
          </a:p>
          <a:p>
            <a:pPr marL="0" indent="0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Цель эксперимента:</a:t>
            </a:r>
          </a:p>
          <a:p>
            <a:r>
              <a:rPr lang="ru-RU" sz="1400" dirty="0">
                <a:solidFill>
                  <a:schemeClr val="tx1"/>
                </a:solidFill>
              </a:rPr>
              <a:t>Определить, какое расположение платных и органических элементов в ленте приносит больше выручки и не ухудшает пользовательский опыт.</a:t>
            </a:r>
          </a:p>
          <a:p>
            <a:pPr marL="0" indent="0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Данные для анализа: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Поведение пользователей</a:t>
            </a:r>
          </a:p>
          <a:p>
            <a:r>
              <a:rPr lang="ru-RU" sz="1400" dirty="0">
                <a:solidFill>
                  <a:schemeClr val="tx1"/>
                </a:solidFill>
              </a:rPr>
              <a:t>Метрики RPM, </a:t>
            </a:r>
            <a:r>
              <a:rPr lang="en-US" sz="1400" dirty="0">
                <a:solidFill>
                  <a:schemeClr val="tx1"/>
                </a:solidFill>
              </a:rPr>
              <a:t>RPS</a:t>
            </a:r>
            <a:r>
              <a:rPr lang="ru-RU" sz="1400" dirty="0">
                <a:solidFill>
                  <a:schemeClr val="tx1"/>
                </a:solidFill>
              </a:rPr>
              <a:t>, </a:t>
            </a:r>
            <a:r>
              <a:rPr lang="ru-RU" sz="1400" dirty="0" err="1">
                <a:solidFill>
                  <a:schemeClr val="tx1"/>
                </a:solidFill>
              </a:rPr>
              <a:t>Paid</a:t>
            </a:r>
            <a:r>
              <a:rPr lang="ru-RU" sz="1400" dirty="0">
                <a:solidFill>
                  <a:schemeClr val="tx1"/>
                </a:solidFill>
              </a:rPr>
              <a:t> CTR, </a:t>
            </a:r>
            <a:r>
              <a:rPr lang="en-US" sz="1400" dirty="0">
                <a:solidFill>
                  <a:schemeClr val="tx1"/>
                </a:solidFill>
              </a:rPr>
              <a:t>Organic CTR</a:t>
            </a:r>
            <a:endParaRPr lang="ru-RU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Даты эксперимента: </a:t>
            </a:r>
          </a:p>
          <a:p>
            <a:r>
              <a:rPr lang="en-US" sz="1400" dirty="0"/>
              <a:t>c </a:t>
            </a:r>
            <a:r>
              <a:rPr lang="ru-RU" sz="1400" dirty="0"/>
              <a:t>01.03.2019 по 07.03.2019</a:t>
            </a:r>
          </a:p>
          <a:p>
            <a:pPr marL="0" indent="0">
              <a:buNone/>
            </a:pPr>
            <a:endParaRPr lang="ru-RU" sz="1400" dirty="0"/>
          </a:p>
          <a:p>
            <a:pPr marL="0" indent="0">
              <a:buNone/>
            </a:pP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11773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765F1F-734E-4482-954A-9529C1BE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252739"/>
            <a:ext cx="9235446" cy="64655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Отличие ключевых метрик по всем платформам</a:t>
            </a: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Ключевые метрики RPM, RPS, </a:t>
            </a:r>
            <a:r>
              <a:rPr lang="ru-RU" sz="1400" dirty="0" err="1">
                <a:solidFill>
                  <a:schemeClr val="tx1"/>
                </a:solidFill>
              </a:rPr>
              <a:t>Paid</a:t>
            </a:r>
            <a:r>
              <a:rPr lang="ru-RU" sz="1400" dirty="0">
                <a:solidFill>
                  <a:schemeClr val="tx1"/>
                </a:solidFill>
              </a:rPr>
              <a:t> CTR  в группах статически значимо не изменились.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Метрика </a:t>
            </a:r>
            <a:r>
              <a:rPr lang="ru-RU" sz="1400" dirty="0" err="1">
                <a:solidFill>
                  <a:schemeClr val="tx1"/>
                </a:solidFill>
              </a:rPr>
              <a:t>Organic</a:t>
            </a:r>
            <a:r>
              <a:rPr lang="ru-RU" sz="1400" dirty="0">
                <a:solidFill>
                  <a:schemeClr val="tx1"/>
                </a:solidFill>
              </a:rPr>
              <a:t> CTR в группе B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значительно снизилась.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</a:t>
            </a:r>
            <a:endParaRPr lang="ru-R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3170F7D-56E3-485C-801E-827028AF1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799" y="680958"/>
            <a:ext cx="7362825" cy="526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284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765F1F-734E-4482-954A-9529C1BE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252739"/>
            <a:ext cx="9235446" cy="64655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Отличие ключевых метрик по платформе </a:t>
            </a:r>
            <a:r>
              <a:rPr lang="en-US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Desktop</a:t>
            </a: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Ключевые метрики RPM, RPS, </a:t>
            </a:r>
            <a:r>
              <a:rPr lang="ru-RU" sz="1400" dirty="0" err="1">
                <a:solidFill>
                  <a:schemeClr val="tx1"/>
                </a:solidFill>
              </a:rPr>
              <a:t>Paid</a:t>
            </a:r>
            <a:r>
              <a:rPr lang="ru-RU" sz="1400" dirty="0">
                <a:solidFill>
                  <a:schemeClr val="tx1"/>
                </a:solidFill>
              </a:rPr>
              <a:t> CTR  в группах статически значимо не изменились.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Метрика </a:t>
            </a:r>
            <a:r>
              <a:rPr lang="ru-RU" sz="1400" dirty="0" err="1">
                <a:solidFill>
                  <a:schemeClr val="tx1"/>
                </a:solidFill>
              </a:rPr>
              <a:t>Organic</a:t>
            </a:r>
            <a:r>
              <a:rPr lang="ru-RU" sz="1400" dirty="0">
                <a:solidFill>
                  <a:schemeClr val="tx1"/>
                </a:solidFill>
              </a:rPr>
              <a:t> CTR в группе B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значительно снизилась.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</a:t>
            </a:r>
            <a:endParaRPr lang="ru-R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1450F50-D381-4D6D-9ACB-7454B6B27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1900" y="814966"/>
            <a:ext cx="7418114" cy="522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1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765F1F-734E-4482-954A-9529C1BE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252739"/>
            <a:ext cx="9235446" cy="64655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Отличие ключевых метрик по платформе </a:t>
            </a:r>
            <a:r>
              <a:rPr lang="en-US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Mobile</a:t>
            </a: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Ключевые метрики RPM, RPS, </a:t>
            </a:r>
            <a:r>
              <a:rPr lang="ru-RU" sz="1400" dirty="0" err="1">
                <a:solidFill>
                  <a:schemeClr val="tx1"/>
                </a:solidFill>
              </a:rPr>
              <a:t>Paid</a:t>
            </a:r>
            <a:r>
              <a:rPr lang="ru-RU" sz="1400" dirty="0">
                <a:solidFill>
                  <a:schemeClr val="tx1"/>
                </a:solidFill>
              </a:rPr>
              <a:t> CTR  в группах статически значимо не изменились.</a:t>
            </a: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Метрика </a:t>
            </a:r>
            <a:r>
              <a:rPr lang="ru-RU" sz="1400" dirty="0" err="1">
                <a:solidFill>
                  <a:schemeClr val="tx1"/>
                </a:solidFill>
              </a:rPr>
              <a:t>Organic</a:t>
            </a:r>
            <a:r>
              <a:rPr lang="ru-RU" sz="1400" dirty="0">
                <a:solidFill>
                  <a:schemeClr val="tx1"/>
                </a:solidFill>
              </a:rPr>
              <a:t> CTR в группе B </a:t>
            </a:r>
            <a:r>
              <a:rPr lang="ru-RU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значительно снизилась.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 </a:t>
            </a:r>
            <a:endParaRPr lang="ru-RU" sz="1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80CCAF2-D475-49FE-87FB-A05B2D75B9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601" y="606554"/>
            <a:ext cx="7658100" cy="546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0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765F1F-734E-4482-954A-9529C1BE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252739"/>
            <a:ext cx="9235446" cy="646556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Сводная таблица</a:t>
            </a: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400" dirty="0">
              <a:solidFill>
                <a:schemeClr val="tx1"/>
              </a:solidFill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1400" dirty="0">
                <a:solidFill>
                  <a:schemeClr val="tx1"/>
                </a:solidFill>
              </a:rPr>
              <a:t>По всем платформам, так и в разрезе платформ тенденция одинаковая.</a:t>
            </a:r>
          </a:p>
        </p:txBody>
      </p:sp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F89C932E-91C5-423C-89B2-DE23CB9030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6666754"/>
              </p:ext>
            </p:extLst>
          </p:nvPr>
        </p:nvGraphicFramePr>
        <p:xfrm>
          <a:off x="321734" y="800100"/>
          <a:ext cx="9235447" cy="527049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98022">
                  <a:extLst>
                    <a:ext uri="{9D8B030D-6E8A-4147-A177-3AD203B41FA5}">
                      <a16:colId xmlns:a16="http://schemas.microsoft.com/office/drawing/2014/main" val="652168365"/>
                    </a:ext>
                  </a:extLst>
                </a:gridCol>
                <a:gridCol w="1627862">
                  <a:extLst>
                    <a:ext uri="{9D8B030D-6E8A-4147-A177-3AD203B41FA5}">
                      <a16:colId xmlns:a16="http://schemas.microsoft.com/office/drawing/2014/main" val="2373693564"/>
                    </a:ext>
                  </a:extLst>
                </a:gridCol>
                <a:gridCol w="1753286">
                  <a:extLst>
                    <a:ext uri="{9D8B030D-6E8A-4147-A177-3AD203B41FA5}">
                      <a16:colId xmlns:a16="http://schemas.microsoft.com/office/drawing/2014/main" val="2872254615"/>
                    </a:ext>
                  </a:extLst>
                </a:gridCol>
                <a:gridCol w="1877828">
                  <a:extLst>
                    <a:ext uri="{9D8B030D-6E8A-4147-A177-3AD203B41FA5}">
                      <a16:colId xmlns:a16="http://schemas.microsoft.com/office/drawing/2014/main" val="2253505319"/>
                    </a:ext>
                  </a:extLst>
                </a:gridCol>
                <a:gridCol w="2478449">
                  <a:extLst>
                    <a:ext uri="{9D8B030D-6E8A-4147-A177-3AD203B41FA5}">
                      <a16:colId xmlns:a16="http://schemas.microsoft.com/office/drawing/2014/main" val="1050123184"/>
                    </a:ext>
                  </a:extLst>
                </a:gridCol>
              </a:tblGrid>
              <a:tr h="90393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Метрика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Значение контрольной  группы А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Значение тестовой группы В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Относительная разница B от A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Уровень значимости различий </a:t>
                      </a:r>
                      <a:r>
                        <a:rPr lang="en-US" sz="1400" dirty="0">
                          <a:effectLst/>
                        </a:rPr>
                        <a:t>p</a:t>
                      </a:r>
                      <a:r>
                        <a:rPr lang="ru-RU" sz="1400" dirty="0">
                          <a:effectLst/>
                        </a:rPr>
                        <a:t>_</a:t>
                      </a:r>
                      <a:r>
                        <a:rPr lang="en-US" sz="1400" dirty="0">
                          <a:effectLst/>
                        </a:rPr>
                        <a:t>value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6513323"/>
                  </a:ext>
                </a:extLst>
              </a:tr>
              <a:tr h="291104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Все платформы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556397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RPM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2.4971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2.9851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19.54 %</a:t>
                      </a:r>
                      <a:r>
                        <a:rPr lang="en-US" sz="1400">
                          <a:effectLst/>
                        </a:rPr>
                        <a:t> ↑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0,3604</a:t>
                      </a:r>
                      <a:r>
                        <a:rPr lang="en-US" sz="1400">
                          <a:effectLst/>
                        </a:rPr>
                        <a:t>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553728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RPS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0.0049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0.0055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12.22 %</a:t>
                      </a:r>
                      <a:r>
                        <a:rPr lang="en-US" sz="1400" dirty="0">
                          <a:effectLst/>
                        </a:rPr>
                        <a:t> ↑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0,5193 </a:t>
                      </a:r>
                      <a:r>
                        <a:rPr lang="en-US" sz="1400">
                          <a:effectLst/>
                        </a:rPr>
                        <a:t>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79302270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Paid CTR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0.021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0.0239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13.78 %</a:t>
                      </a:r>
                      <a:r>
                        <a:rPr lang="en-US" sz="1400" dirty="0">
                          <a:effectLst/>
                        </a:rPr>
                        <a:t> ↑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0,2298 </a:t>
                      </a:r>
                      <a:r>
                        <a:rPr lang="en-US" sz="1400">
                          <a:effectLst/>
                        </a:rPr>
                        <a:t>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3875480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Organic CTR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0.0674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0.0321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-52.42%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↓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</a:t>
                      </a:r>
                      <a:r>
                        <a:rPr lang="ru-RU" sz="1400" dirty="0">
                          <a:effectLst/>
                        </a:rPr>
                        <a:t> </a:t>
                      </a:r>
                      <a:r>
                        <a:rPr lang="en-US" sz="1400" dirty="0">
                          <a:effectLst/>
                        </a:rPr>
                        <a:t>– </a:t>
                      </a: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значимо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7964395"/>
                  </a:ext>
                </a:extLst>
              </a:tr>
              <a:tr h="291104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Desktop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996767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RPM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2</a:t>
                      </a:r>
                      <a:r>
                        <a:rPr lang="en-US" sz="1400" dirty="0">
                          <a:effectLst/>
                        </a:rPr>
                        <a:t>.</a:t>
                      </a:r>
                      <a:r>
                        <a:rPr lang="ru-RU" sz="1400" dirty="0">
                          <a:effectLst/>
                        </a:rPr>
                        <a:t>0372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2.132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4.7 </a:t>
                      </a:r>
                      <a:r>
                        <a:rPr lang="ru-RU" sz="1400">
                          <a:effectLst/>
                        </a:rPr>
                        <a:t>%</a:t>
                      </a:r>
                      <a:r>
                        <a:rPr lang="en-US" sz="1400">
                          <a:effectLst/>
                        </a:rPr>
                        <a:t> ↑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0.8475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2337891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RPS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0.0048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0.0048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 </a:t>
                      </a:r>
                      <a:r>
                        <a:rPr lang="ru-RU" sz="1400">
                          <a:effectLst/>
                        </a:rPr>
                        <a:t>%</a:t>
                      </a:r>
                      <a:r>
                        <a:rPr lang="en-US" sz="1400">
                          <a:effectLst/>
                        </a:rPr>
                        <a:t> ↑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0.981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4655245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Paid CTR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0.0216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0.0231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6.9 </a:t>
                      </a:r>
                      <a:r>
                        <a:rPr lang="ru-RU" sz="1400">
                          <a:effectLst/>
                        </a:rPr>
                        <a:t>%</a:t>
                      </a:r>
                      <a:r>
                        <a:rPr lang="en-US" sz="1400">
                          <a:effectLst/>
                        </a:rPr>
                        <a:t> ↑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0.654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8950840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Organic CTR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0.0706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0.0343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-51.4 </a:t>
                      </a: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%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↓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 – </a:t>
                      </a: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значимо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62487605"/>
                  </a:ext>
                </a:extLst>
              </a:tr>
              <a:tr h="291104">
                <a:tc grid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Mobile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522275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RPM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3.0721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4.0514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31.9 </a:t>
                      </a:r>
                      <a:r>
                        <a:rPr lang="ru-RU" sz="1400" dirty="0">
                          <a:effectLst/>
                        </a:rPr>
                        <a:t>%</a:t>
                      </a:r>
                      <a:r>
                        <a:rPr lang="en-US" sz="1400" dirty="0">
                          <a:effectLst/>
                        </a:rPr>
                        <a:t> ↑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0.3275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3404959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RPS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0.005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0.0063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26 </a:t>
                      </a:r>
                      <a:r>
                        <a:rPr lang="ru-RU" sz="1400" dirty="0">
                          <a:effectLst/>
                        </a:rPr>
                        <a:t>%</a:t>
                      </a:r>
                      <a:r>
                        <a:rPr lang="en-US" sz="1400" dirty="0">
                          <a:effectLst/>
                        </a:rPr>
                        <a:t>   ↑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0.4146 – </a:t>
                      </a:r>
                      <a:r>
                        <a:rPr lang="ru-RU" sz="1400">
                          <a:effectLst/>
                        </a:rPr>
                        <a:t>не значимо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1401926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Paid CTR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0.0203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0.0249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22.7 </a:t>
                      </a:r>
                      <a:r>
                        <a:rPr lang="ru-RU" sz="1400" dirty="0">
                          <a:effectLst/>
                        </a:rPr>
                        <a:t>%</a:t>
                      </a:r>
                      <a:r>
                        <a:rPr lang="en-US" sz="1400" dirty="0">
                          <a:effectLst/>
                        </a:rPr>
                        <a:t> ↑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0.1655 – </a:t>
                      </a:r>
                      <a:r>
                        <a:rPr lang="ru-RU" sz="1400" dirty="0">
                          <a:effectLst/>
                        </a:rPr>
                        <a:t>не значимо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2983593"/>
                  </a:ext>
                </a:extLst>
              </a:tr>
              <a:tr h="29110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 err="1">
                          <a:effectLst/>
                        </a:rPr>
                        <a:t>Organic</a:t>
                      </a:r>
                      <a:r>
                        <a:rPr lang="ru-RU" sz="1400" dirty="0">
                          <a:effectLst/>
                        </a:rPr>
                        <a:t> CTR</a:t>
                      </a:r>
                      <a:endParaRPr lang="ru-RU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0.0634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>
                          <a:effectLst/>
                        </a:rPr>
                        <a:t>0.0292</a:t>
                      </a:r>
                      <a:endParaRPr lang="ru-RU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-53.9 </a:t>
                      </a:r>
                      <a:r>
                        <a:rPr lang="en-US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% ↓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</a:rPr>
                        <a:t>0 – </a:t>
                      </a:r>
                      <a:r>
                        <a:rPr lang="ru-RU" sz="140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effectLst/>
                        </a:rPr>
                        <a:t>значимо</a:t>
                      </a:r>
                      <a:endParaRPr lang="ru-RU" sz="140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40989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55949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4765F1F-734E-4482-954A-9529C1BE7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034" y="736600"/>
            <a:ext cx="9235446" cy="59817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Поведение пользователей</a:t>
            </a:r>
          </a:p>
          <a:p>
            <a:pPr lvl="1" algn="just"/>
            <a:r>
              <a:rPr lang="ru-RU" dirty="0">
                <a:solidFill>
                  <a:schemeClr val="tx1"/>
                </a:solidFill>
              </a:rPr>
              <a:t>Среднее значение </a:t>
            </a:r>
            <a:r>
              <a:rPr lang="ru-RU" dirty="0" err="1">
                <a:solidFill>
                  <a:schemeClr val="tx1"/>
                </a:solidFill>
              </a:rPr>
              <a:t>Organic</a:t>
            </a:r>
            <a:r>
              <a:rPr lang="ru-RU" dirty="0">
                <a:solidFill>
                  <a:schemeClr val="tx1"/>
                </a:solidFill>
              </a:rPr>
              <a:t> CTR в группе B значительно снизилось на 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52.42 % </a:t>
            </a:r>
          </a:p>
          <a:p>
            <a:pPr lvl="1" algn="just"/>
            <a:r>
              <a:rPr lang="ru-RU" dirty="0">
                <a:solidFill>
                  <a:schemeClr val="tx1"/>
                </a:solidFill>
              </a:rPr>
              <a:t>Экспериментальное изменение (группа B) не улучшило ключевые бизнес-метрики RPM, RPS, </a:t>
            </a:r>
            <a:r>
              <a:rPr lang="ru-RU" dirty="0" err="1">
                <a:solidFill>
                  <a:schemeClr val="tx1"/>
                </a:solidFill>
              </a:rPr>
              <a:t>Paid</a:t>
            </a:r>
            <a:r>
              <a:rPr lang="ru-RU" dirty="0">
                <a:solidFill>
                  <a:schemeClr val="tx1"/>
                </a:solidFill>
              </a:rPr>
              <a:t> CTR.</a:t>
            </a:r>
            <a:endParaRPr lang="ru-RU" sz="1400" dirty="0">
              <a:solidFill>
                <a:schemeClr val="tx1"/>
              </a:solidFill>
            </a:endParaRPr>
          </a:p>
          <a:p>
            <a:pPr marL="457200" lvl="1" indent="0" algn="just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 algn="just">
              <a:buNone/>
            </a:pPr>
            <a:r>
              <a:rPr lang="ru-RU" sz="21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Выводы</a:t>
            </a:r>
          </a:p>
          <a:p>
            <a:pPr lvl="1" algn="just"/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Не внедрять </a:t>
            </a:r>
            <a:r>
              <a:rPr lang="ru-RU" dirty="0">
                <a:solidFill>
                  <a:schemeClr val="tx1"/>
                </a:solidFill>
              </a:rPr>
              <a:t>изменение, так как оно ухудшает поведенческие метрики без выгоды для выручки - на маленькой выборке можно обнаружить </a:t>
            </a:r>
            <a:r>
              <a:rPr lang="ru-RU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только очень сильные эффекты </a:t>
            </a:r>
            <a:r>
              <a:rPr lang="ru-RU" dirty="0">
                <a:solidFill>
                  <a:schemeClr val="tx1"/>
                </a:solidFill>
              </a:rPr>
              <a:t>(126 вместо рассчитанного количества наблюдений в 14730).</a:t>
            </a:r>
          </a:p>
          <a:p>
            <a:pPr lvl="1" algn="just"/>
            <a:r>
              <a:rPr lang="ru-RU" dirty="0">
                <a:solidFill>
                  <a:schemeClr val="tx1"/>
                </a:solidFill>
              </a:rPr>
              <a:t>Внедрить мониторинг LTV (падение </a:t>
            </a:r>
            <a:r>
              <a:rPr lang="ru-RU" dirty="0" err="1">
                <a:solidFill>
                  <a:schemeClr val="tx1"/>
                </a:solidFill>
              </a:rPr>
              <a:t>Organic</a:t>
            </a:r>
            <a:r>
              <a:rPr lang="ru-RU" dirty="0">
                <a:solidFill>
                  <a:schemeClr val="tx1"/>
                </a:solidFill>
              </a:rPr>
              <a:t> CTR может привести к снижению возвратов пользователей), необходимо отследить долгосрочный эффект через 7, 14, 30 дней.</a:t>
            </a:r>
          </a:p>
          <a:p>
            <a:pPr lvl="1" algn="just"/>
            <a:r>
              <a:rPr lang="ru-RU" dirty="0">
                <a:solidFill>
                  <a:schemeClr val="tx1"/>
                </a:solidFill>
              </a:rPr>
              <a:t>Запустить новый A/B-тест с другим чередованием платных и органических элементов, визуальным выделением платных элементов с одновременным увеличением объема выборки.</a:t>
            </a:r>
          </a:p>
          <a:p>
            <a:pPr lvl="1"/>
            <a:endParaRPr lang="ru-RU" dirty="0">
              <a:solidFill>
                <a:schemeClr val="tx1"/>
              </a:solidFill>
            </a:endParaRPr>
          </a:p>
          <a:p>
            <a:pPr lvl="1"/>
            <a:endParaRPr lang="ru-RU" dirty="0">
              <a:solidFill>
                <a:schemeClr val="tx1"/>
              </a:solidFill>
            </a:endParaRPr>
          </a:p>
          <a:p>
            <a:pPr lvl="1"/>
            <a:endParaRPr lang="ru-RU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  <a:p>
            <a:pPr marL="0" indent="0">
              <a:buNone/>
            </a:pPr>
            <a:endParaRPr lang="ru-RU" sz="1400" dirty="0"/>
          </a:p>
          <a:p>
            <a:pPr marL="0" indent="0">
              <a:spcBef>
                <a:spcPts val="0"/>
              </a:spcBef>
              <a:buNone/>
            </a:pP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ru-RU" sz="21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4473092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114</TotalTime>
  <Words>478</Words>
  <Application>Microsoft Office PowerPoint</Application>
  <PresentationFormat>Широкоэкранный</PresentationFormat>
  <Paragraphs>167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Times New Roman</vt:lpstr>
      <vt:lpstr>Trebuchet MS</vt:lpstr>
      <vt:lpstr>Wingdings 3</vt:lpstr>
      <vt:lpstr>Аспект</vt:lpstr>
      <vt:lpstr>AB-test Marketpele Feed</vt:lpstr>
      <vt:lpstr>AB-test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AB-test Marketpele Feed</dc:title>
  <dc:creator>Mihalev Ilya</dc:creator>
  <cp:lastModifiedBy>Mihalev Ilya</cp:lastModifiedBy>
  <cp:revision>20</cp:revision>
  <dcterms:created xsi:type="dcterms:W3CDTF">2026-04-17T09:48:35Z</dcterms:created>
  <dcterms:modified xsi:type="dcterms:W3CDTF">2026-04-21T08:30:09Z</dcterms:modified>
</cp:coreProperties>
</file>